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430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Arial"/>
              </a:rPr>
              <a:t>Whitespace Analyzer</a:t>
            </a:r>
            <a:r>
              <a:rPr sz="2000" b="0" i="0">
                <a:solidFill>
                  <a:srgbClr val="89D1FF"/>
                </a:solidFill>
                <a:latin typeface="Arial"/>
              </a:rPr>
              <a:t>  ·  Weekly Update Job 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EFFF"/>
                </a:solidFill>
                <a:latin typeface="Arial"/>
              </a:rPr>
              <a:t>Run each week to refresh the dashboard with the latest account coverage, pipeline, and outside-in opportunity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77824"/>
            <a:ext cx="3749039" cy="5669280"/>
          </a:xfrm>
          <a:prstGeom prst="rect">
            <a:avLst/>
          </a:prstGeom>
          <a:solidFill>
            <a:srgbClr val="F5F8FF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78808" y="877824"/>
            <a:ext cx="3749039" cy="5669280"/>
          </a:xfrm>
          <a:prstGeom prst="rect">
            <a:avLst/>
          </a:prstGeom>
          <a:solidFill>
            <a:srgbClr val="F5F8FF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56448" y="877824"/>
            <a:ext cx="3749039" cy="5669280"/>
          </a:xfrm>
          <a:prstGeom prst="rect">
            <a:avLst/>
          </a:prstGeom>
          <a:solidFill>
            <a:srgbClr val="F5F8FF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877824"/>
            <a:ext cx="3749039" cy="27432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923544"/>
            <a:ext cx="35204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STEPS 1–2   ·   SETUP &amp; DOWNLOADS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877824"/>
            <a:ext cx="3749039" cy="27432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923544"/>
            <a:ext cx="35204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STEP 3   ·   EXPORT TOP PARENT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877824"/>
            <a:ext cx="3749039" cy="274320"/>
          </a:xfrm>
          <a:prstGeom prst="rect">
            <a:avLst/>
          </a:prstGeom>
          <a:solidFill>
            <a:srgbClr val="002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923544"/>
            <a:ext cx="35204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STEPS 4–5   ·   RUN &amp; VALIDATE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1234439"/>
            <a:ext cx="201168" cy="201168"/>
          </a:xfrm>
          <a:prstGeom prst="ellipse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25295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2A86"/>
                </a:solidFill>
                <a:latin typeface="Arial"/>
              </a:rPr>
              <a:t>Create the input folder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48132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Arial"/>
              </a:rPr>
              <a:t>Name the folder with today’s data-pull date: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37360"/>
            <a:ext cx="3419856" cy="228600"/>
          </a:xfrm>
          <a:prstGeom prst="rect">
            <a:avLst/>
          </a:prstGeom>
          <a:solidFill>
            <a:srgbClr val="E8ECF5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87651"/>
            <a:ext cx="3255263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input/2026-08-13/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29967"/>
            <a:ext cx="3419856" cy="9144"/>
          </a:xfrm>
          <a:prstGeom prst="rect">
            <a:avLst/>
          </a:prstGeom>
          <a:solidFill>
            <a:srgbClr val="CC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5760" y="2148839"/>
            <a:ext cx="201168" cy="201168"/>
          </a:xfrm>
          <a:prstGeom prst="ellipse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13969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2A86"/>
                </a:solidFill>
                <a:latin typeface="Arial"/>
              </a:rPr>
              <a:t>Download these reports into that folder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32303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414015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Adoption Monitor (AM)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" y="2606039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MW_MU_AM_YYYY-MM-DD.csv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2761487"/>
            <a:ext cx="3246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888888"/>
                </a:solidFill>
                <a:latin typeface="Arial"/>
              </a:rPr>
              <a:t>Filter: </a:t>
            </a:r>
            <a:r>
              <a:rPr sz="700" b="0" i="0">
                <a:solidFill>
                  <a:srgbClr val="888888"/>
                </a:solidFill>
                <a:latin typeface="Arial"/>
              </a:rPr>
              <a:t>SBB Market Unit Desc = US Midwest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44368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2926079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Account Master (IAA)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" y="3118103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MW_MU_IAA_YYYY-MM-DD.csv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" y="3273551"/>
            <a:ext cx="3246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888888"/>
                </a:solidFill>
                <a:latin typeface="Arial"/>
              </a:rPr>
              <a:t>Filter: </a:t>
            </a:r>
            <a:r>
              <a:rPr sz="700" b="0" i="0">
                <a:solidFill>
                  <a:srgbClr val="888888"/>
                </a:solidFill>
                <a:latin typeface="Arial"/>
              </a:rPr>
              <a:t>Market Unit = Midwest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56432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438144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Pipeline Forecast (ADRM)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3630168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MW_MU_ADRM_YYYY-MM-DD.csv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" y="3785615"/>
            <a:ext cx="3246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888888"/>
                </a:solidFill>
                <a:latin typeface="Arial"/>
              </a:rPr>
              <a:t>Filter: </a:t>
            </a:r>
            <a:r>
              <a:rPr sz="700" b="0" i="0">
                <a:solidFill>
                  <a:srgbClr val="888888"/>
                </a:solidFill>
                <a:latin typeface="Arial"/>
              </a:rPr>
              <a:t>Zero Flag=N · Source=CLOUD · Region L1=Americas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68496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950208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Outside-In Wallet (TAO)  —  3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" y="4142232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US_MIDWEST_TAO_DD_MM_YYYY_v2_1/2/3.csv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52544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4334256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Planned Pipeline (SPI)  —  optional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" y="4526280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MW_MU_SPI_YYYY-MM-DD.csv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" y="4681728"/>
            <a:ext cx="3246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888888"/>
                </a:solidFill>
                <a:latin typeface="Arial"/>
              </a:rPr>
              <a:t>Filter: </a:t>
            </a:r>
            <a:r>
              <a:rPr sz="700" b="0" i="0">
                <a:solidFill>
                  <a:srgbClr val="888888"/>
                </a:solidFill>
                <a:latin typeface="Arial"/>
              </a:rPr>
              <a:t>Region L2=US Midwest · Currency=USD</a:t>
            </a:r>
          </a:p>
        </p:txBody>
      </p:sp>
      <p:sp>
        <p:nvSpPr>
          <p:cNvPr id="41" name="Oval 40"/>
          <p:cNvSpPr/>
          <p:nvPr/>
        </p:nvSpPr>
        <p:spPr>
          <a:xfrm>
            <a:off x="4343400" y="1234439"/>
            <a:ext cx="201168" cy="201168"/>
          </a:xfrm>
          <a:prstGeom prst="ellipse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2" y="1225295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2A86"/>
                </a:solidFill>
                <a:latin typeface="Arial"/>
              </a:rPr>
              <a:t>Generate the Top Parent ID 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1499616"/>
            <a:ext cx="3419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Arial"/>
              </a:rPr>
              <a:t>After downloading IAA (before downloading AM-TP), run: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1773936"/>
            <a:ext cx="3419856" cy="384048"/>
          </a:xfrm>
          <a:prstGeom prst="rect">
            <a:avLst/>
          </a:prstGeom>
          <a:solidFill>
            <a:srgbClr val="E8ECF5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1824228"/>
            <a:ext cx="3255263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python3 tools/export_top_parent_ids.py \</a:t>
            </a:r>
          </a:p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  --iaa input/DATE/MW_MU_IAA_DATE.csv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2231136"/>
            <a:ext cx="34198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444444"/>
                </a:solidFill>
                <a:latin typeface="Arial"/>
              </a:rPr>
              <a:t>Writes </a:t>
            </a:r>
            <a:r>
              <a:rPr sz="800" b="0" i="0">
                <a:solidFill>
                  <a:srgbClr val="00144A"/>
                </a:solidFill>
                <a:latin typeface="Courier New"/>
              </a:rPr>
              <a:t>top_parent_ids.csv</a:t>
            </a:r>
            <a:r>
              <a:rPr sz="800" b="0" i="0">
                <a:solidFill>
                  <a:srgbClr val="444444"/>
                </a:solidFill>
                <a:latin typeface="Arial"/>
              </a:rPr>
              <a:t> into the dated input folder. Use this list to scope the AM-TP export in Adoption Monitor.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2688336"/>
            <a:ext cx="3419856" cy="9144"/>
          </a:xfrm>
          <a:prstGeom prst="rect">
            <a:avLst/>
          </a:prstGeom>
          <a:solidFill>
            <a:srgbClr val="CC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2798064"/>
            <a:ext cx="3419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2A86"/>
                </a:solidFill>
                <a:latin typeface="Arial"/>
              </a:rPr>
              <a:t>Then download and add to the same folder: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400" y="3044952"/>
            <a:ext cx="118872" cy="118872"/>
          </a:xfrm>
          <a:prstGeom prst="rect">
            <a:avLst/>
          </a:prstGeom>
          <a:noFill/>
          <a:ln w="12700">
            <a:solidFill>
              <a:srgbClr val="1B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17136" y="3026664"/>
            <a:ext cx="324612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AM Top Parent (AM-TP)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17136" y="3218688"/>
            <a:ext cx="32461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1">
                <a:solidFill>
                  <a:srgbClr val="444444"/>
                </a:solidFill>
                <a:latin typeface="Courier New"/>
              </a:rPr>
              <a:t>MW_MU_AM_TP_YYYY-MM-DD.csv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17136" y="3374136"/>
            <a:ext cx="3246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888888"/>
                </a:solidFill>
                <a:latin typeface="Arial"/>
              </a:rPr>
              <a:t>Filter: </a:t>
            </a:r>
            <a:r>
              <a:rPr sz="700" b="0" i="0">
                <a:solidFill>
                  <a:srgbClr val="888888"/>
                </a:solidFill>
                <a:latin typeface="Arial"/>
              </a:rPr>
              <a:t>Planning Entity IDs in top_parent_ids.csv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3557016"/>
            <a:ext cx="3419856" cy="347472"/>
          </a:xfrm>
          <a:prstGeom prst="rect">
            <a:avLst/>
          </a:prstGeom>
          <a:solidFill>
            <a:srgbClr val="D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3611880"/>
            <a:ext cx="32552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02A86"/>
                </a:solidFill>
                <a:latin typeface="Arial"/>
              </a:rPr>
              <a:t>Note: </a:t>
            </a:r>
            <a:r>
              <a:rPr sz="750" b="0" i="0">
                <a:solidFill>
                  <a:srgbClr val="444444"/>
                </a:solidFill>
                <a:latin typeface="Arial"/>
              </a:rPr>
              <a:t>AM-TP is optional — the pipeline runs without it. Skip if unavailable.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3977640"/>
            <a:ext cx="3419856" cy="9144"/>
          </a:xfrm>
          <a:prstGeom prst="rect">
            <a:avLst/>
          </a:prstGeom>
          <a:solidFill>
            <a:srgbClr val="CC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4087368"/>
            <a:ext cx="3419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2A86"/>
                </a:solidFill>
                <a:latin typeface="Arial"/>
              </a:rPr>
              <a:t>All files go in one dated folder: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4306824"/>
            <a:ext cx="3419856" cy="804672"/>
          </a:xfrm>
          <a:prstGeom prst="rect">
            <a:avLst/>
          </a:prstGeom>
          <a:solidFill>
            <a:srgbClr val="E8ECF5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4357116"/>
            <a:ext cx="325526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input/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2026-08-13/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MW_MU_AM_2026-08-13.csv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MW_MU_IAA_2026-08-13.csv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MW_MU_ADRM_2026-08-13.csv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US_MIDWEST_TAO_13_08_2026_v2_1.csv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US_MIDWEST_TAO_13_08_2026_v2_2.csv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US_MIDWEST_TAO_13_08_2026_v2_3.csv</a:t>
            </a:r>
          </a:p>
          <a:p>
            <a:pPr algn="l"/>
            <a:r>
              <a:rPr sz="700" b="0" i="0">
                <a:solidFill>
                  <a:srgbClr val="00144A"/>
                </a:solidFill>
                <a:latin typeface="Courier New"/>
              </a:rPr>
              <a:t>    MW_MU_AM_TP_2026-08-13.csv  ← optional</a:t>
            </a:r>
          </a:p>
        </p:txBody>
      </p:sp>
      <p:sp>
        <p:nvSpPr>
          <p:cNvPr id="59" name="Oval 58"/>
          <p:cNvSpPr/>
          <p:nvPr/>
        </p:nvSpPr>
        <p:spPr>
          <a:xfrm>
            <a:off x="8321040" y="1234439"/>
            <a:ext cx="201168" cy="201168"/>
          </a:xfrm>
          <a:prstGeom prst="ellipse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77072" y="1225295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2A86"/>
                </a:solidFill>
                <a:latin typeface="Arial"/>
              </a:rPr>
              <a:t>Run the pipeline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1499616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Arial"/>
              </a:rPr>
              <a:t>Point the pipeline at the dated input folder: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1755648"/>
            <a:ext cx="3419856" cy="384048"/>
          </a:xfrm>
          <a:prstGeom prst="rect">
            <a:avLst/>
          </a:prstGeom>
          <a:solidFill>
            <a:srgbClr val="E8ECF5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1805939"/>
            <a:ext cx="3255263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python3 run_pipeline.py \</a:t>
            </a:r>
          </a:p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  --input-dir input/2026-08-13/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2212848"/>
            <a:ext cx="3419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Arial"/>
              </a:rPr>
              <a:t>The folder name sets the snapshot date shown in the dashboard header.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2532888"/>
            <a:ext cx="3419856" cy="9144"/>
          </a:xfrm>
          <a:prstGeom prst="rect">
            <a:avLst/>
          </a:prstGeom>
          <a:solidFill>
            <a:srgbClr val="CC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1040" y="2651760"/>
            <a:ext cx="201168" cy="201168"/>
          </a:xfrm>
          <a:prstGeom prst="ellipse">
            <a:avLst/>
          </a:prstGeom>
          <a:solidFill>
            <a:srgbClr val="1B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264261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 i="0">
                <a:solidFill>
                  <a:srgbClr val="002A86"/>
                </a:solidFill>
                <a:latin typeface="Arial"/>
              </a:rPr>
              <a:t>Check validation results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2935224"/>
            <a:ext cx="3419856" cy="274320"/>
          </a:xfrm>
          <a:prstGeom prst="rect">
            <a:avLst/>
          </a:prstGeom>
          <a:solidFill>
            <a:srgbClr val="E8F5E9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2980944"/>
            <a:ext cx="3255263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07C10"/>
                </a:solidFill>
                <a:latin typeface="Arial"/>
              </a:rPr>
              <a:t>✓  </a:t>
            </a:r>
            <a:r>
              <a:rPr sz="850" b="1" i="0">
                <a:solidFill>
                  <a:srgbClr val="107C10"/>
                </a:solidFill>
                <a:latin typeface="Arial"/>
              </a:rPr>
              <a:t>Exit 0</a:t>
            </a:r>
            <a:r>
              <a:rPr sz="800" b="0" i="0">
                <a:solidFill>
                  <a:srgbClr val="444444"/>
                </a:solidFill>
                <a:latin typeface="Arial"/>
              </a:rPr>
              <a:t>  Clean run — safe to share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3255264"/>
            <a:ext cx="3419856" cy="274320"/>
          </a:xfrm>
          <a:prstGeom prst="rect">
            <a:avLst/>
          </a:prstGeom>
          <a:solidFill>
            <a:srgbClr val="FFF3CD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3300984"/>
            <a:ext cx="3255263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8B5000"/>
                </a:solidFill>
                <a:latin typeface="Arial"/>
              </a:rPr>
              <a:t>⚠  </a:t>
            </a:r>
            <a:r>
              <a:rPr sz="850" b="1" i="0">
                <a:solidFill>
                  <a:srgbClr val="8B5000"/>
                </a:solidFill>
                <a:latin typeface="Arial"/>
              </a:rPr>
              <a:t>Exit 2</a:t>
            </a:r>
            <a:r>
              <a:rPr sz="800" b="0" i="0">
                <a:solidFill>
                  <a:srgbClr val="444444"/>
                </a:solidFill>
                <a:latin typeface="Arial"/>
              </a:rPr>
              <a:t>  Warnings — review printed report before sharing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3575304"/>
            <a:ext cx="3419856" cy="274320"/>
          </a:xfrm>
          <a:prstGeom prst="rect">
            <a:avLst/>
          </a:prstGeom>
          <a:solidFill>
            <a:srgbClr val="FDEDED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3621024"/>
            <a:ext cx="3255263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9B1010"/>
                </a:solidFill>
                <a:latin typeface="Arial"/>
              </a:rPr>
              <a:t>✗  </a:t>
            </a:r>
            <a:r>
              <a:rPr sz="850" b="1" i="0">
                <a:solidFill>
                  <a:srgbClr val="9B1010"/>
                </a:solidFill>
                <a:latin typeface="Arial"/>
              </a:rPr>
              <a:t>Exit 1</a:t>
            </a:r>
            <a:r>
              <a:rPr sz="800" b="0" i="0">
                <a:solidFill>
                  <a:srgbClr val="444444"/>
                </a:solidFill>
                <a:latin typeface="Arial"/>
              </a:rPr>
              <a:t>  Failed — fix the error and re-run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3941064"/>
            <a:ext cx="3419856" cy="9144"/>
          </a:xfrm>
          <a:prstGeom prst="rect">
            <a:avLst/>
          </a:prstGeom>
          <a:solidFill>
            <a:srgbClr val="CC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050792"/>
            <a:ext cx="3419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2A86"/>
                </a:solidFill>
                <a:latin typeface="Arial"/>
              </a:rPr>
              <a:t>Output — open in any browser: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21040" y="4279392"/>
            <a:ext cx="3419856" cy="384048"/>
          </a:xfrm>
          <a:prstGeom prst="rect">
            <a:avLst/>
          </a:prstGeom>
          <a:solidFill>
            <a:srgbClr val="E8ECF5"/>
          </a:solidFill>
          <a:ln w="6350">
            <a:solidFill>
              <a:srgbClr val="CC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80" y="4329684"/>
            <a:ext cx="3255263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output/2026-08-13/</a:t>
            </a:r>
          </a:p>
          <a:p>
            <a:pPr algn="l"/>
            <a:r>
              <a:rPr sz="750" b="0" i="0">
                <a:solidFill>
                  <a:srgbClr val="00144A"/>
                </a:solidFill>
                <a:latin typeface="Courier New"/>
              </a:rPr>
              <a:t>  whitespace-analyzer.html   ← open this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4736592"/>
            <a:ext cx="3419856" cy="411480"/>
          </a:xfrm>
          <a:prstGeom prst="rect">
            <a:avLst/>
          </a:prstGeom>
          <a:solidFill>
            <a:srgbClr val="D1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91456"/>
            <a:ext cx="32552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02A86"/>
                </a:solidFill>
                <a:latin typeface="Arial"/>
              </a:rPr>
              <a:t>Common exit 2 causes: </a:t>
            </a:r>
            <a:r>
              <a:rPr sz="750" b="0" i="0">
                <a:solidFill>
                  <a:srgbClr val="444444"/>
                </a:solidFill>
                <a:latin typeface="Arial"/>
              </a:rPr>
              <a:t>AM↔IAA match rate below threshold · TAO coverage below 50% · Missing expected column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675120"/>
            <a:ext cx="3657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Arial"/>
              </a:rPr>
              <a:t>SAP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