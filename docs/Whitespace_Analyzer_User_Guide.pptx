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2" r:id="rId5"/>
    <p:sldId id="273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69"/>
    <p:restoredTop sz="70455"/>
  </p:normalViewPr>
  <p:slideViewPr>
    <p:cSldViewPr snapToGrid="0" snapToObjects="1">
      <p:cViewPr varScale="1">
        <p:scale>
          <a:sx n="143" d="100"/>
          <a:sy n="143" d="100"/>
        </p:scale>
        <p:origin x="1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807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they own and how is it being used?</a:t>
            </a:r>
          </a:p>
          <a:p>
            <a:endParaRPr lang="en-US" dirty="0"/>
          </a:p>
          <a:p>
            <a:r>
              <a:rPr lang="en-US" dirty="0"/>
              <a:t>What is their estimated budget?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C3109-177B-E58E-2D2F-D3947D66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FFD3A-17D0-F979-EBDE-509F711E7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1746F-4E24-3D8C-20B9-1DAC574AA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E4DA1-0BA7-C18D-B6BC-317ECC00B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33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4F973-EFE6-2165-5B01-C536C2C4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D7080-FADD-10F3-9064-8F886823B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1F359-E299-B20C-EFC1-CBE96DB5D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AB018-3DF7-B7C4-5CEE-F51553288E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93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"Every quarter we ask the same question: where should we focus? This tool answers it with data, not gut feel."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"We're going to walk from the territory view down to a single account — following the questions a real selling team asks every day."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"Three roles, three questions: the RVP and VP looking for where to direct the team, the AE looking at one account, and the demand manager building a campaign."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ages.github.tools.sap/ai-spotlight/mw-mu-dashboards/whitespace-analyz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65760"/>
            <a:ext cx="9144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Whitespace &amp; Cross-Sell</a:t>
            </a:r>
            <a:endParaRPr lang="en-US" sz="3600" dirty="0"/>
          </a:p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Opportunity Analyzer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9D1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User Guide for Sales &amp; Sales Management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E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Q3 2026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1EFFF"/>
                </a:solidFill>
                <a:latin typeface="72 Brand" pitchFamily="34" charset="0"/>
              </a:rPr>
              <a:t>Jeff Dillon, Helen Lan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What Is This Tool?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39288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"Find the money you're leaving on the table — before your competitor does."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680710"/>
            <a:ext cx="8229600" cy="1879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Looks at every account you own and asks: "Which SAP Solution Areas do they NOT have yet?"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Ranks those gaps by outside-in dollar potential (how much budget likely exists, based on peers in the same industry and revenue tier)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Tells you which accounts to call first, which products to propose, and how much opportunity is at stake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910E34-91EE-F117-1D52-B14F97C85AF1}"/>
              </a:ext>
            </a:extLst>
          </p:cNvPr>
          <p:cNvSpPr txBox="1"/>
          <p:nvPr/>
        </p:nvSpPr>
        <p:spPr>
          <a:xfrm>
            <a:off x="457200" y="1141214"/>
            <a:ext cx="512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Whitespace &amp; Cross-Sell</a:t>
            </a:r>
            <a:r>
              <a:rPr lang="en-US" dirty="0"/>
              <a:t> </a:t>
            </a:r>
            <a:r>
              <a:rPr lang="en-US" dirty="0"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Opportunity Analyzer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How the Tool Works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96939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"Three inputs → one prioritized opportunity list"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0622" y="1501352"/>
            <a:ext cx="1494570" cy="1446922"/>
          </a:xfrm>
          <a:prstGeom prst="ellipse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0622" y="1501352"/>
            <a:ext cx="1494570" cy="1446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SAP Adoption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Monitor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163427"/>
            <a:ext cx="219456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What do customers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own and are they using it?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73821" y="1501352"/>
            <a:ext cx="1494571" cy="1446922"/>
          </a:xfrm>
          <a:prstGeom prst="ellipse">
            <a:avLst/>
          </a:prstGeom>
          <a:solidFill>
            <a:srgbClr val="002A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73821" y="1501352"/>
            <a:ext cx="1494571" cy="143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TAO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Estimated Wallet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3163427"/>
            <a:ext cx="219456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What is the outside-in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budget estimate?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17021" y="1501352"/>
            <a:ext cx="1494571" cy="1446922"/>
          </a:xfrm>
          <a:prstGeom prst="ellipse">
            <a:avLst/>
          </a:prstGeom>
          <a:solidFill>
            <a:srgbClr val="002A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17021" y="1501353"/>
            <a:ext cx="1494571" cy="14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TAO </a:t>
            </a:r>
            <a:b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</a:b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Sales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3163427"/>
            <a:ext cx="219456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What solutions fit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their industry?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 rot="5400000">
            <a:off x="3924648" y="3583061"/>
            <a:ext cx="4642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B90FF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2560320" y="4043778"/>
            <a:ext cx="3200400" cy="640080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559358" y="404377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Prioritized Whitespace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CCD1-C8FC-A09B-0D88-498AF4AB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E4B273F-709C-9D22-1E8B-C910469C0A51}"/>
              </a:ext>
            </a:extLst>
          </p:cNvPr>
          <p:cNvSpPr/>
          <p:nvPr/>
        </p:nvSpPr>
        <p:spPr>
          <a:xfrm>
            <a:off x="457199" y="3147560"/>
            <a:ext cx="5376041" cy="1559997"/>
          </a:xfrm>
          <a:prstGeom prst="roundRect">
            <a:avLst>
              <a:gd name="adj" fmla="val 31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200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0F78B18-32D6-9D03-40AF-B5F53ACF0DF7}"/>
              </a:ext>
            </a:extLst>
          </p:cNvPr>
          <p:cNvSpPr/>
          <p:nvPr/>
        </p:nvSpPr>
        <p:spPr>
          <a:xfrm>
            <a:off x="457199" y="1215312"/>
            <a:ext cx="5376041" cy="1559997"/>
          </a:xfrm>
          <a:prstGeom prst="roundRect">
            <a:avLst>
              <a:gd name="adj" fmla="val 31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200" dirty="0"/>
          </a:p>
        </p:txBody>
      </p:sp>
      <p:pic>
        <p:nvPicPr>
          <p:cNvPr id="2" name="Image 0" descr="/tmp/sandbox/skills/sap-brand/material/anvils/sap.svg">
            <a:extLst>
              <a:ext uri="{FF2B5EF4-FFF2-40B4-BE49-F238E27FC236}">
                <a16:creationId xmlns:a16="http://schemas.microsoft.com/office/drawing/2014/main" id="{B68FE1C1-1952-A0EC-0133-71B62143D2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1604CC3-769E-4FD9-0AAC-58CC31D25956}"/>
              </a:ext>
            </a:extLst>
          </p:cNvPr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Key Concepts</a:t>
            </a:r>
            <a:endParaRPr lang="en-US" sz="2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F951345-439E-1465-27EA-A0E0683625B0}"/>
              </a:ext>
            </a:extLst>
          </p:cNvPr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E36DD3A-4110-5E25-8F8D-1801B50CB923}"/>
              </a:ext>
            </a:extLst>
          </p:cNvPr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51980-C83D-1941-C451-1A8287498479}"/>
              </a:ext>
            </a:extLst>
          </p:cNvPr>
          <p:cNvSpPr txBox="1"/>
          <p:nvPr/>
        </p:nvSpPr>
        <p:spPr>
          <a:xfrm>
            <a:off x="681070" y="1378107"/>
            <a:ext cx="260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TAO Estimated Wallet</a:t>
            </a:r>
            <a:endParaRPr lang="en-US" sz="1200" dirty="0">
              <a:latin typeface="72 Brand" charset="0"/>
              <a:ea typeface="72 Brand" charset="0"/>
              <a:cs typeface="72 Brand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477672-7493-7097-CB59-748306A03EAA}"/>
              </a:ext>
            </a:extLst>
          </p:cNvPr>
          <p:cNvSpPr txBox="1"/>
          <p:nvPr/>
        </p:nvSpPr>
        <p:spPr>
          <a:xfrm>
            <a:off x="681071" y="1716362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Approximates how much budget exists for a specific solution area </a:t>
            </a:r>
            <a:br>
              <a:rPr lang="en-US" sz="12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(L1, L2).</a:t>
            </a:r>
            <a:endParaRPr lang="en-US" sz="1200" dirty="0">
              <a:latin typeface="72 Brand" charset="0"/>
              <a:ea typeface="72 Brand" charset="0"/>
              <a:cs typeface="72 Brand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7FF2D8A-C888-78FD-92FA-30AE1701C152}"/>
              </a:ext>
            </a:extLst>
          </p:cNvPr>
          <p:cNvSpPr/>
          <p:nvPr/>
        </p:nvSpPr>
        <p:spPr>
          <a:xfrm>
            <a:off x="6035040" y="1215312"/>
            <a:ext cx="2834640" cy="3489118"/>
          </a:xfrm>
          <a:prstGeom prst="roundRect">
            <a:avLst>
              <a:gd name="adj" fmla="val 311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latin typeface="72 Brand" panose="020B0504030603020204" pitchFamily="34" charset="0"/>
              </a:rPr>
              <a:t>Estimated Wallet Data Inputs</a:t>
            </a:r>
          </a:p>
          <a:p>
            <a:pPr algn="ctr"/>
            <a:endParaRPr lang="en-US" sz="1200" b="1" dirty="0">
              <a:latin typeface="72 Brand" panose="020B05040306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72 Brand" panose="020B0504030603020204" pitchFamily="34" charset="0"/>
              </a:rPr>
              <a:t>Average 2025 Total SAP Revenue per solution area for top k% companies in each Global Ultimate Revenue Band cluster. </a:t>
            </a:r>
            <a:br>
              <a:rPr lang="en-US" sz="1200" dirty="0">
                <a:latin typeface="72 Brand" panose="020B0504030603020204" pitchFamily="34" charset="0"/>
              </a:rPr>
            </a:br>
            <a:endParaRPr lang="en-US" sz="1200" dirty="0">
              <a:latin typeface="72 Brand" panose="020B05040306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72 Brand" panose="020B0504030603020204" pitchFamily="34" charset="0"/>
              </a:rPr>
              <a:t>CRO alignment and market intelligence informed additional assumptions on total opportunity sizing.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9B9589-29C2-1CE7-B59B-4D3EFC468CE9}"/>
              </a:ext>
            </a:extLst>
          </p:cNvPr>
          <p:cNvSpPr txBox="1"/>
          <p:nvPr/>
        </p:nvSpPr>
        <p:spPr>
          <a:xfrm>
            <a:off x="681070" y="3259098"/>
            <a:ext cx="1978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72 Brand" panose="020B0504030603020204" pitchFamily="34" charset="0"/>
              </a:rPr>
              <a:t>Gap to Estimated Wallet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EE173-E1C5-B3D2-FEE4-46B157270073}"/>
              </a:ext>
            </a:extLst>
          </p:cNvPr>
          <p:cNvSpPr txBox="1"/>
          <p:nvPr/>
        </p:nvSpPr>
        <p:spPr>
          <a:xfrm>
            <a:off x="681070" y="3620411"/>
            <a:ext cx="4019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140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defRPr>
            </a:lvl1pPr>
          </a:lstStyle>
          <a:p>
            <a:r>
              <a:rPr lang="en-US" sz="1200" dirty="0"/>
              <a:t>Estimated Wallet - Exit ACV - CY &amp; CY+1 Pipeline</a:t>
            </a:r>
          </a:p>
        </p:txBody>
      </p:sp>
    </p:spTree>
    <p:extLst>
      <p:ext uri="{BB962C8B-B14F-4D97-AF65-F5344CB8AC3E}">
        <p14:creationId xmlns:p14="http://schemas.microsoft.com/office/powerpoint/2010/main" val="3723653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CA68-6615-E3CB-3060-731777FC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B89A22-CECA-E69E-E3EF-9BE4DF5C629F}"/>
              </a:ext>
            </a:extLst>
          </p:cNvPr>
          <p:cNvSpPr/>
          <p:nvPr/>
        </p:nvSpPr>
        <p:spPr>
          <a:xfrm>
            <a:off x="457200" y="1083720"/>
            <a:ext cx="5174241" cy="1189668"/>
          </a:xfrm>
          <a:prstGeom prst="roundRect">
            <a:avLst>
              <a:gd name="adj" fmla="val 31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2" name="Image 0" descr="/tmp/sandbox/skills/sap-brand/material/anvils/sap.svg">
            <a:extLst>
              <a:ext uri="{FF2B5EF4-FFF2-40B4-BE49-F238E27FC236}">
                <a16:creationId xmlns:a16="http://schemas.microsoft.com/office/drawing/2014/main" id="{777509B0-EC6C-ED38-5CC0-F24B3AE27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A9FBB89-B606-38DB-C97B-B0AF2D2D7C0A}"/>
              </a:ext>
            </a:extLst>
          </p:cNvPr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Key Concepts</a:t>
            </a:r>
            <a:endParaRPr lang="en-US" sz="2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F543C76-414F-51D4-82D1-412CA410F667}"/>
              </a:ext>
            </a:extLst>
          </p:cNvPr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0C9E4DB-7A77-0CCB-7BCC-7DC23CC2A0F2}"/>
              </a:ext>
            </a:extLst>
          </p:cNvPr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D903C-8E1E-B4F5-7D0F-04C2FF74F3F6}"/>
              </a:ext>
            </a:extLst>
          </p:cNvPr>
          <p:cNvSpPr txBox="1"/>
          <p:nvPr/>
        </p:nvSpPr>
        <p:spPr>
          <a:xfrm>
            <a:off x="457200" y="1144003"/>
            <a:ext cx="1091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TAO Priority</a:t>
            </a:r>
            <a:endParaRPr lang="en-US" sz="1200" dirty="0">
              <a:latin typeface="72 Brand" charset="0"/>
              <a:ea typeface="72 Brand" charset="0"/>
              <a:cs typeface="72 Brand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62158-8414-A33C-A424-3DF2E3812CF3}"/>
              </a:ext>
            </a:extLst>
          </p:cNvPr>
          <p:cNvSpPr txBox="1"/>
          <p:nvPr/>
        </p:nvSpPr>
        <p:spPr>
          <a:xfrm>
            <a:off x="457200" y="1421002"/>
            <a:ext cx="4899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The likelihood that a sales opportunity will open for this account in a specific solution area (L1,L2) within the next year, based on historical patterns.</a:t>
            </a:r>
            <a:endParaRPr lang="en-US" sz="1200" dirty="0">
              <a:latin typeface="72 Brand" charset="0"/>
              <a:ea typeface="72 Brand" charset="0"/>
              <a:cs typeface="72 Brand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5762015-6928-7284-36D7-B69EE404A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184816"/>
              </p:ext>
            </p:extLst>
          </p:nvPr>
        </p:nvGraphicFramePr>
        <p:xfrm>
          <a:off x="457200" y="2415276"/>
          <a:ext cx="5174241" cy="228915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24747">
                  <a:extLst>
                    <a:ext uri="{9D8B030D-6E8A-4147-A177-3AD203B41FA5}">
                      <a16:colId xmlns:a16="http://schemas.microsoft.com/office/drawing/2014/main" val="26125942"/>
                    </a:ext>
                  </a:extLst>
                </a:gridCol>
                <a:gridCol w="1724747">
                  <a:extLst>
                    <a:ext uri="{9D8B030D-6E8A-4147-A177-3AD203B41FA5}">
                      <a16:colId xmlns:a16="http://schemas.microsoft.com/office/drawing/2014/main" val="806995494"/>
                    </a:ext>
                  </a:extLst>
                </a:gridCol>
                <a:gridCol w="1724747">
                  <a:extLst>
                    <a:ext uri="{9D8B030D-6E8A-4147-A177-3AD203B41FA5}">
                      <a16:colId xmlns:a16="http://schemas.microsoft.com/office/drawing/2014/main" val="1232635720"/>
                    </a:ext>
                  </a:extLst>
                </a:gridCol>
              </a:tblGrid>
              <a:tr h="38152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b="1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b="1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Account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b="1" i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Future opps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26388"/>
                  </a:ext>
                </a:extLst>
              </a:tr>
              <a:tr h="381526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1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1 Very High</a:t>
                      </a:r>
                      <a:endParaRPr lang="en-US" sz="1200" b="0" i="0" dirty="0">
                        <a:solidFill>
                          <a:srgbClr val="32363A"/>
                        </a:solidFill>
                        <a:effectLst/>
                        <a:latin typeface="72" panose="020B05030300000000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Top 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~40%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339037"/>
                  </a:ext>
                </a:extLst>
              </a:tr>
              <a:tr h="381526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1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2 High</a:t>
                      </a:r>
                      <a:endParaRPr lang="en-US" sz="1200" b="0" i="0" dirty="0">
                        <a:solidFill>
                          <a:srgbClr val="32363A"/>
                        </a:solidFill>
                        <a:effectLst/>
                        <a:latin typeface="72" panose="020B05030300000000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10441"/>
                  </a:ext>
                </a:extLst>
              </a:tr>
              <a:tr h="381526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1" i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3 Medium</a:t>
                      </a:r>
                      <a:endParaRPr lang="en-US" sz="1200" b="0" i="0">
                        <a:solidFill>
                          <a:srgbClr val="32363A"/>
                        </a:solidFill>
                        <a:effectLst/>
                        <a:latin typeface="72" panose="020B05030300000000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Next 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~40%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3009"/>
                  </a:ext>
                </a:extLst>
              </a:tr>
              <a:tr h="381526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1" i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4 Medium Low</a:t>
                      </a:r>
                      <a:endParaRPr lang="en-US" sz="1200" b="0" i="0">
                        <a:solidFill>
                          <a:srgbClr val="32363A"/>
                        </a:solidFill>
                        <a:effectLst/>
                        <a:latin typeface="72" panose="020B05030300000000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Bottom 75%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~20%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84474"/>
                  </a:ext>
                </a:extLst>
              </a:tr>
              <a:tr h="381526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1" i="0" dirty="0">
                          <a:solidFill>
                            <a:srgbClr val="32363A"/>
                          </a:solidFill>
                          <a:effectLst/>
                          <a:latin typeface="72" panose="020B0503030000000003" pitchFamily="34" charset="0"/>
                        </a:rPr>
                        <a:t>5 Low</a:t>
                      </a:r>
                      <a:endParaRPr lang="en-US" sz="1200" b="0" i="0" dirty="0">
                        <a:solidFill>
                          <a:srgbClr val="32363A"/>
                        </a:solidFill>
                        <a:effectLst/>
                        <a:latin typeface="72" panose="020B05030300000000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692544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6A1554-469C-D58C-C8E3-27D1F1D09ED9}"/>
              </a:ext>
            </a:extLst>
          </p:cNvPr>
          <p:cNvSpPr/>
          <p:nvPr/>
        </p:nvSpPr>
        <p:spPr>
          <a:xfrm>
            <a:off x="6035040" y="1083720"/>
            <a:ext cx="2834640" cy="3620709"/>
          </a:xfrm>
          <a:prstGeom prst="roundRect">
            <a:avLst>
              <a:gd name="adj" fmla="val 311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/>
              <a:t>SPS Model Data Inputs</a:t>
            </a:r>
          </a:p>
          <a:p>
            <a:pPr algn="ctr"/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Super Score (intent data) </a:t>
            </a:r>
            <a:br>
              <a:rPr lang="en-US" sz="1200" dirty="0"/>
            </a:b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BTP Recommender (usage data) </a:t>
            </a:r>
            <a:br>
              <a:rPr lang="en-US" sz="1200" dirty="0"/>
            </a:b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Propensity Model (opportunity data) </a:t>
            </a:r>
            <a:br>
              <a:rPr lang="en-US" sz="1200" dirty="0"/>
            </a:b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Customer Journey (purchase history) </a:t>
            </a:r>
            <a:br>
              <a:rPr lang="en-US" sz="1200" dirty="0"/>
            </a:b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Crystal Record (CRM master data)</a:t>
            </a:r>
          </a:p>
        </p:txBody>
      </p:sp>
    </p:spTree>
    <p:extLst>
      <p:ext uri="{BB962C8B-B14F-4D97-AF65-F5344CB8AC3E}">
        <p14:creationId xmlns:p14="http://schemas.microsoft.com/office/powerpoint/2010/main" val="291125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Overview: Gap to Wallet by Solution Area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"Where is the biggest money hiding?"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D1E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The largest boxes tell you exactly where the team should be focused.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07A2E5-9F5D-D033-F7BD-D51A1516A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411" y="1351215"/>
            <a:ext cx="5413178" cy="24410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Whitespace Accounts by Solution and TAO Priority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"Which Solution Areas have both volume AND urgency?"</a:t>
            </a:r>
            <a:endParaRPr lang="en-US" sz="1400" dirty="0"/>
          </a:p>
        </p:txBody>
      </p:sp>
      <p:pic>
        <p:nvPicPr>
          <p:cNvPr id="6" name="Image 1" descr="/tmp/sandbox/overview - bubble char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963" y="1371600"/>
            <a:ext cx="7848074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D1E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Bubbles in the upper-right corner have both volume AND urgency — call those accounts this week.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Whitespace by Sales Group and Solution Area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1920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"How is opportunity distributed across your team?"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4061198"/>
            <a:ext cx="8229600" cy="365760"/>
          </a:xfrm>
          <a:prstGeom prst="rect">
            <a:avLst/>
          </a:prstGeom>
          <a:solidFill>
            <a:srgbClr val="D1E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0080" y="406119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Scan the row for your team. The lightest cells show where the most accounts are missing a solution.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D0DB78-EFD9-FBB1-6BB5-0E1F7C800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1502869"/>
            <a:ext cx="8229600" cy="2226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Account Details Table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"Your ranked account list — sortable, filterable, actionable"</a:t>
            </a:r>
            <a:endParaRPr lang="en-US" sz="1400" dirty="0"/>
          </a:p>
        </p:txBody>
      </p:sp>
      <p:pic>
        <p:nvPicPr>
          <p:cNvPr id="6" name="Image 1" descr="/tmp/sandbox/overview - account-details-tabl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371600"/>
            <a:ext cx="859536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D1E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Filter to your Sales Group. Sort by Whitespace Gap. 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Account Detail Page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"Everything you need to prepare a cross-sell conversation — in one view"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D1E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Before your next discovery call: note the top 2–3 whitespace Solution Areas by Gap, check the Recommended Solutions, and go in with a hypothesis.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941B23-805F-DC1E-D6AC-BF9EDF246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556" y="1408176"/>
            <a:ext cx="5372888" cy="28885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Cluster Analysis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70F2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"Run the same play on dozens of accounts at once"</a:t>
            </a:r>
            <a:endParaRPr lang="en-US" sz="1400" dirty="0"/>
          </a:p>
        </p:txBody>
      </p:sp>
      <p:pic>
        <p:nvPicPr>
          <p:cNvPr id="6" name="Image 1" descr="/tmp/sandbox/clust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371600"/>
            <a:ext cx="8229600" cy="288911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D1E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A8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Portfolio leads: use clusters to build focused campaigns. Sales managers: coordinate multi-AE outreach across a shared play.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0" y="18288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2A86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Tips &amp; Gotchas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1B9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Filters are global — Sales Office, Sales Group, Solution Area, Industry, RISE, Strategy, and Priority filters apply everywhere.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Scope mode — "Planning Entity + Top Parent" nulls out whitespace for L1s already covered by the parent. Avoids proposing what the parent owns.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Heatmap shading is intentionally inverted for accounts — lighter = more accounts (more opportunity volume).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Accounts with no SAP products are filtered out (tool is for cross-sell, not new logo).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Shelfware ≠ whitespace — if they have a license they’re not using, it’s covered. Consider a re-adoption conversation.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Data is at Planning Entity level — always check Top Parent. Switch to PE + Top Parent scope to factor in parent ownership.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Account search (top right) lets you jump directly to any account by name.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andbox/skills/sap-brand/material/anvils/s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65760"/>
            <a:ext cx="9144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420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856459"/>
            <a:ext cx="8229600" cy="20892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1600" dirty="0">
                <a:solidFill>
                  <a:srgbClr val="D1E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Access the tool here: 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600" dirty="0">
                <a:solidFill>
                  <a:schemeClr val="bg1"/>
                </a:solidFill>
                <a:latin typeface="72 Brand" pitchFamily="34" charset="0"/>
                <a:ea typeface="72 Brand" pitchFamily="34" charset="-122"/>
                <a:cs typeface="72 Bran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600" dirty="0" err="1">
                <a:solidFill>
                  <a:schemeClr val="bg1"/>
                </a:solidFill>
                <a:latin typeface="72 Brand" pitchFamily="34" charset="0"/>
                <a:ea typeface="72 Brand" pitchFamily="34" charset="-122"/>
                <a:cs typeface="72 Bran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pages.github.tools.sap</a:t>
            </a:r>
            <a:r>
              <a:rPr lang="en-US" sz="1600" dirty="0">
                <a:solidFill>
                  <a:schemeClr val="bg1"/>
                </a:solidFill>
                <a:latin typeface="72 Brand" pitchFamily="34" charset="0"/>
                <a:ea typeface="72 Brand" pitchFamily="34" charset="-122"/>
                <a:cs typeface="72 Bran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/ai-spotlight/mw-mu-dashboards/whitespace-</a:t>
            </a:r>
            <a:r>
              <a:rPr lang="en-US" sz="1600" dirty="0" err="1">
                <a:solidFill>
                  <a:schemeClr val="bg1"/>
                </a:solidFill>
                <a:latin typeface="72 Brand" pitchFamily="34" charset="0"/>
                <a:ea typeface="72 Brand" pitchFamily="34" charset="-122"/>
                <a:cs typeface="72 Bran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analyzer.html</a:t>
            </a:r>
            <a:endParaRPr lang="en-US" sz="1600" dirty="0">
              <a:solidFill>
                <a:schemeClr val="bg1"/>
              </a:solidFill>
              <a:latin typeface="72 Brand" pitchFamily="34" charset="0"/>
              <a:ea typeface="72 Brand" pitchFamily="34" charset="-122"/>
              <a:cs typeface="72 Brand" pitchFamily="34" charset="-120"/>
            </a:endParaRPr>
          </a:p>
          <a:p>
            <a:pPr>
              <a:spcAft>
                <a:spcPts val="1000"/>
              </a:spcAft>
              <a:buSzPct val="100000"/>
            </a:pPr>
            <a:br>
              <a:rPr lang="en-US" sz="1600" dirty="0">
                <a:solidFill>
                  <a:srgbClr val="D1E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</a:br>
            <a:br>
              <a:rPr lang="en-US" sz="1600" dirty="0">
                <a:solidFill>
                  <a:srgbClr val="D1E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</a:br>
            <a:r>
              <a:rPr lang="en-US" sz="1600" dirty="0">
                <a:solidFill>
                  <a:srgbClr val="D1E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Questions? Data issues or missing accounts? Feature requests?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600" dirty="0">
                <a:solidFill>
                  <a:schemeClr val="bg1"/>
                </a:solidFill>
                <a:latin typeface="72 Brand" pitchFamily="34" charset="0"/>
              </a:rPr>
              <a:t>Contact Jeff Dillon and Helen Lan</a:t>
            </a:r>
          </a:p>
          <a:p>
            <a:pPr>
              <a:spcAft>
                <a:spcPts val="1000"/>
              </a:spcAft>
              <a:buSzPct val="100000"/>
            </a:pPr>
            <a:endParaRPr lang="en-US" sz="1600" dirty="0">
              <a:solidFill>
                <a:srgbClr val="D1EFFF"/>
              </a:solidFill>
              <a:latin typeface="72 Brand" pitchFamily="34" charset="0"/>
            </a:endParaRPr>
          </a:p>
          <a:p>
            <a:pPr>
              <a:spcAft>
                <a:spcPts val="1000"/>
              </a:spcAft>
              <a:buSzPct val="100000"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885</Words>
  <Application>Microsoft Macintosh PowerPoint</Application>
  <PresentationFormat>On-screen Show (16:9)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72</vt:lpstr>
      <vt:lpstr>72 Brand</vt:lpstr>
      <vt:lpstr>72 Brand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Whitespace Analyzer - User Guide</dc:title>
  <dc:subject>PptxGenJS Presentation</dc:subject>
  <dc:creator>SAP</dc:creator>
  <cp:lastModifiedBy>Dillon, Jeff</cp:lastModifiedBy>
  <cp:revision>12</cp:revision>
  <dcterms:created xsi:type="dcterms:W3CDTF">2026-07-10T19:49:08Z</dcterms:created>
  <dcterms:modified xsi:type="dcterms:W3CDTF">2026-07-14T13:23:46Z</dcterms:modified>
</cp:coreProperties>
</file>